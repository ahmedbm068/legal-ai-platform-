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88952" cy="5943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57432" cy="41148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03C"/>
                </a:solidFill>
              </a:rPr>
              <a:t>Legal AI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AI-Powered Legal Workspace for Modern Law Firms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95A5"/>
                </a:solidFill>
              </a:rPr>
              <a:t>Case management  ·  Document Intelligence  ·  Multi-Agent Copilot  ·  Client Portal  ·  Voice Intake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520440"/>
            <a:ext cx="12188952" cy="36576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Presented by:   Ben Ahmed Mohamed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5A5"/>
                </a:solidFill>
              </a:rPr>
              <a:t>Company Supervisor :                University Supervisor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5A5"/>
                </a:solidFill>
              </a:rPr>
              <a:t>Graduation Year 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Host Company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Introduction &amp;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27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Study of Existing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959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79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1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6460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Adopted Methodology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371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Project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48839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402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2585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Design &amp; Technological Choices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272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886200"/>
            <a:ext cx="50292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776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959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HOST COMPANY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Host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Where the project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3C"/>
                </a:solidFill>
              </a:rPr>
              <a:t>⚖  Tunisian Law Firm — Modern Legal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firm handles civil, commercial, and corporate legal matters across
Tunisia and cross-border jurisdictions including Germany.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97480"/>
            <a:ext cx="5394960" cy="14173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2788920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Case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36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Multi-client case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Document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667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Deadline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97480"/>
            <a:ext cx="5394960" cy="14173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788920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Client 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36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Intake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4015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Status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667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Portal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297680"/>
            <a:ext cx="5394960" cy="14173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389120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Legal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365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Code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017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Jurisprudence 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669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Drafting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297680"/>
            <a:ext cx="5394960" cy="14173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4389120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7365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Multi-jurisdiction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017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Audit trails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2669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Role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INTRODUCTION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What lawyers face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212080" cy="51206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12188952" cy="2743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Documents scattered across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Manual case summaries (hours)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No jurisdiction-aware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Generic AI with no case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No client self-service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Voice intake requires manual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✗  No grounded citations or audit trail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577840" cy="51206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97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AFTER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572768"/>
            <a:ext cx="12188952" cy="2743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Unified case workspace with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AI copilot: instant grounded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Tunisia + Germany legal code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Case-scoped multi-agent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Separate secure client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Voice → transcript → consultation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Source citations + confidence scores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416" y="3429000"/>
            <a:ext cx="566928" cy="10972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3291840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3C"/>
                </a:solidFill>
              </a:rPr>
              <a:t>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STUDY OF EXISTING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Where existing tools fall 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43000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438912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143000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Strengths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097280"/>
            <a:ext cx="420624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143000"/>
            <a:ext cx="4059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Limitations 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274320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554480"/>
            <a:ext cx="438912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554480"/>
            <a:ext cx="420624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62763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Harvey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627632"/>
            <a:ext cx="4242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LLM for lawyers · Citation focus · Trusted by large firms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627632"/>
            <a:ext cx="40599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80"/>
                </a:solidFill>
              </a:rPr>
              <a:t>US-centric · No Tunisia/MENA · Proprietary · No custom corpus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274320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468880"/>
            <a:ext cx="438912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2468880"/>
            <a:ext cx="420624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54203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Westlaw / LexisNexis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2542032"/>
            <a:ext cx="4242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Huge corpus · Reliable precedents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542032"/>
            <a:ext cx="40599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80"/>
                </a:solidFill>
              </a:rPr>
              <a:t>Search-only · No generative AI copilot · Very expensive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83280"/>
            <a:ext cx="274320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383280"/>
            <a:ext cx="438912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383280"/>
            <a:ext cx="420624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45643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CaseText / Clio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3456432"/>
            <a:ext cx="4242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Practice management · Some AI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456432"/>
            <a:ext cx="40599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80"/>
                </a:solidFill>
              </a:rPr>
              <a:t>Generic AI, not grounded · No multi-agent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97680"/>
            <a:ext cx="274320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297680"/>
            <a:ext cx="438912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4297680"/>
            <a:ext cx="4206240" cy="80467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37083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ChatGPT / 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3552" y="4370832"/>
            <a:ext cx="4242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 generation · Good 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4370832"/>
            <a:ext cx="40599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80"/>
                </a:solidFill>
              </a:rPr>
              <a:t>No case scoping · Hallucinations · No legal citations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212080"/>
            <a:ext cx="2743200" cy="80467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5212080"/>
            <a:ext cx="4389120" cy="80467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5212080"/>
            <a:ext cx="4206240" cy="80467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528523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Our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3552" y="5285232"/>
            <a:ext cx="4242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Case-grounded RAG · Multi-agent · Voice · Client portal · Tunisia legal codes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5285232"/>
            <a:ext cx="40599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—  Purpose-built for this firm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A complete legal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11880" cy="21945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Case
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7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Cases · Clients · Documents
Deadlines · RBAC · Multi-tenant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280160"/>
            <a:ext cx="3611880" cy="21945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3898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AI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29967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Multi-agent orchestration
Intent routing · Grounded answers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280160"/>
            <a:ext cx="3611880" cy="21945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13898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Document
Intel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029967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OCR · NER · PII redaction
Chunking · FAISS vector 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611880" cy="21945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13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1304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Legal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Tunisia &amp; Germany legal codes
Citation verification · Fallback taxonomy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703320"/>
            <a:ext cx="3611880" cy="21945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3813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381304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Voice Intake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45312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Transcription pipeline
Audio → Consultation →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703320"/>
            <a:ext cx="3611880" cy="21945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813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381304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Client
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45312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Public intake form
Case status tracking · Secure login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ADOPTED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Scrum + iterative AI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234440"/>
            <a:ext cx="1554480" cy="11887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3716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Sprint
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1554480" cy="11887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3716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Daily
Standup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34440"/>
            <a:ext cx="1554480" cy="11887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3716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Sprint
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234440"/>
            <a:ext cx="1554480" cy="11887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13716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Sprint
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81360" y="1234440"/>
            <a:ext cx="1554480" cy="11887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54512" y="137160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Retrospective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06040"/>
            <a:ext cx="11640312" cy="3657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6334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633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633472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Deliverables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11640312" cy="53035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72384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Sprint 1–2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072384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Feb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072384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Backend core: auth, cases, clients, documents, RBAC, multi-tenant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593591"/>
            <a:ext cx="11640312" cy="530352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648456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Sprint 3–4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648456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Mar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648456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Document AI pipeline: OCR, NER, PII, chunking, FAISS indexing, RAG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69663"/>
            <a:ext cx="11640312" cy="53035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224527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Sprint 5–6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224527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Mar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4224527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Copilot orchestration, intent routing, specialized agents, voice intake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745736"/>
            <a:ext cx="11640312" cy="530352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800599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Sprint 7–8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800599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Apr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4800599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Internal React workspace: case view, document panel, copilot chat, calendar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321808"/>
            <a:ext cx="11640312" cy="530352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537667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Sprint 9–10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537667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Apr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37667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Client portal: intake form, status tracking, portal auth, MinIO uploads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897879"/>
            <a:ext cx="11640312" cy="530352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5952743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Sprint 11–12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5952743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May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5952743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Trust hardening: grounding, citation verification, AI Insight panel, eval suite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PROJECT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Who uses the platform and 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50292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🧑‍⚖️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3C"/>
                </a:solidFill>
              </a:rPr>
              <a:t>Lawyer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542032"/>
            <a:ext cx="12188952" cy="2743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Primary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2186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Manages cases &amp;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785615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Uses copilot &amp; legal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3525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Reviews AI-grounded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91947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Signs off on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188720"/>
            <a:ext cx="2743200" cy="50292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9933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3C"/>
                </a:solidFill>
              </a:rPr>
              <a:t>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542032"/>
            <a:ext cx="12188952" cy="2743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Manages user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186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Tenant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85615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Monitors system 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3525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Access control &amp; RBAC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1188720"/>
            <a:ext cx="2743200" cy="50292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8896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19933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3C"/>
                </a:solidFill>
              </a:rPr>
              <a:t>Legal
Assistant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542032"/>
            <a:ext cx="12188952" cy="2743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Uploads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2186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Tracks deadlines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785615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Runs document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3525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Prepares drafts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7424" y="1188720"/>
            <a:ext cx="2743200" cy="50292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13264" y="1280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4" y="19933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3C"/>
                </a:solidFill>
              </a:rPr>
              <a:t>Client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2542032"/>
            <a:ext cx="12188952" cy="2743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Submits intake 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32186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Tracks case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785615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Uploads supporting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6" y="435254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Receives status updates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715000" cy="17373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Case &amp; Client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6459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Create/update/close legal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3852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Manage clients and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3113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Track deadlines and obligations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52374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Multi-tenant data isolation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715000" cy="17373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AI Copilot &amp;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Intent-routed copilot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3852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Ask, summarize, draft, analyze intents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23113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Specialized agents per legal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52374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Grounded answers with source citations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5715000" cy="17373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108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Document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520439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Upload PDF, DOCX, scanned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81304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OCR, NER, PII redaction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105655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Chunking, embedding, FAISS indexing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39826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Hybrid retrieval with reranking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017520"/>
            <a:ext cx="5715000" cy="17373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108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Legal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520439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Tunisia + Germany legal codes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381304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Article-level citation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4105655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Claim verification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398264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Fallback with explicit reason taxonomy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92040"/>
            <a:ext cx="5715000" cy="17373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9834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Voice &amp; Intake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394959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Voice recording upload / live 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687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Transcription to structured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980175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Auto-extract consultation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272783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Consultation linked to case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892040"/>
            <a:ext cx="5715000" cy="17373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49834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Client Portal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1" y="5394959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Public intake form submission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1" y="5687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Case status self-service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5980175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Secure portal login (OTP)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1" y="6272783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Document upload by client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715000" cy="23774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🔒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7099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JWT + refresh token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57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BCrypt password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04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RBAC with role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523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Multi-tenant data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09981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CORS + rate limiting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715000" cy="23774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⚡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7099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Background workers for heavy AI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057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Redis caching for frequent lookups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404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FAISS in-memory vector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7523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Paginated API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09981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Lazy-loaded frontend bundles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5715000" cy="23774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79475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🛡️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2702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LLM provider fallback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6177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Structured fallback reason taxonomy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965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Graceful degradation on 429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531266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Smoke tests + E2E regression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66013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Eval gates before release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703320"/>
            <a:ext cx="5715000" cy="23774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79475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🏗️ Maintainability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2702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Modular service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46177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Typed API contracts (Pydantic)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965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Clear agent-per-intent separation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531266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Centralized prompt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566013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Documented sprint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Actor–feature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051560"/>
            <a:ext cx="8229600" cy="5303520"/>
          </a:xfrm>
          <a:prstGeom prst="rect">
            <a:avLst/>
          </a:prstGeom>
          <a:solidFill>
            <a:srgbClr val="102035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03C"/>
                </a:solidFill>
              </a:rPr>
              <a:t>Legal AI Platform System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1755648"/>
            <a:ext cx="411480" cy="411480"/>
          </a:xfrm>
          <a:prstGeom prst="ellipse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Lawyer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401568"/>
            <a:ext cx="411480" cy="411480"/>
          </a:xfrm>
          <a:prstGeom prst="ellipse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587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Admin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5047488"/>
            <a:ext cx="411480" cy="411480"/>
          </a:xfrm>
          <a:prstGeom prst="ellipse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50468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Client</a:t>
            </a:r>
          </a:p>
        </p:txBody>
      </p:sp>
      <p:sp>
        <p:nvSpPr>
          <p:cNvPr id="14" name="Oval 13"/>
          <p:cNvSpPr/>
          <p:nvPr/>
        </p:nvSpPr>
        <p:spPr>
          <a:xfrm>
            <a:off x="2834640" y="1444752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48132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Manage Cases &amp; Clients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0" y="2176272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21284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Ask AI Copilot (case-scoped)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2907791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294436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Upload &amp; Search Documents</a:t>
            </a:r>
          </a:p>
        </p:txBody>
      </p:sp>
      <p:sp>
        <p:nvSpPr>
          <p:cNvPr id="20" name="Oval 19"/>
          <p:cNvSpPr/>
          <p:nvPr/>
        </p:nvSpPr>
        <p:spPr>
          <a:xfrm>
            <a:off x="2834640" y="3639312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367588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Legal Code Search</a:t>
            </a:r>
          </a:p>
        </p:txBody>
      </p:sp>
      <p:sp>
        <p:nvSpPr>
          <p:cNvPr id="22" name="Oval 21"/>
          <p:cNvSpPr/>
          <p:nvPr/>
        </p:nvSpPr>
        <p:spPr>
          <a:xfrm>
            <a:off x="2834640" y="4370832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440740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Voice Intake → Consultation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1993391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2029967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Manage Users &amp; Tenants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2907791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94436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View System Audit Logs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822192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85876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Submit Intake Form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736592"/>
            <a:ext cx="3291840" cy="438912"/>
          </a:xfrm>
          <a:prstGeom prst="ellipse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4773168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Track Case 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Sequence Diagram — Copilot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From user prompt to grounded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88720" cy="457200"/>
          </a:xfrm>
          <a:prstGeom prst="rect">
            <a:avLst/>
          </a:prstGeom>
          <a:solidFill>
            <a:srgbClr val="C9A0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Lawyer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1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3271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271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1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3271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271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71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3271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3271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1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3271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1051560"/>
            <a:ext cx="1188720" cy="45720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96312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96312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96312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96312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6312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96312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96312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96312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96312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96312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96312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96312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1051560"/>
            <a:ext cx="1188720" cy="45720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05072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05072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05072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05072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05072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05072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05072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05072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37760" y="1051560"/>
            <a:ext cx="1188720" cy="45720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RAG Service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13832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13832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13832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13832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13832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13832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13832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13832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13832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13832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13832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13832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46520" y="1051560"/>
            <a:ext cx="1188720" cy="45720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Verifier Agent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22592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22592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22592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22592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22592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22592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22592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22592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22592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22592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22592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22592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55279" y="1051560"/>
            <a:ext cx="1188720" cy="45720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0100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LLM Gateway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31352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31352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31352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31352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31352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531352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531352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531352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531352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31352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531352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31352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601200" y="1051560"/>
            <a:ext cx="1188720" cy="457200"/>
          </a:xfrm>
          <a:prstGeom prst="rect">
            <a:avLst/>
          </a:prstGeom>
          <a:solidFill>
            <a:srgbClr val="C9A0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46920" y="10789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Assembly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77272" y="155448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77272" y="193852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177272" y="232257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177272" y="270662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177272" y="309067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77272" y="347472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177272" y="385876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177272" y="4242816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177272" y="4626864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77272" y="5010912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177272" y="5394960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77272" y="5779008"/>
            <a:ext cx="36576" cy="2743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1560" y="1737360"/>
            <a:ext cx="146304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404872" y="1682495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1560" y="1499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POST /copilot  {prompt, case_id, scope}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14600" y="2148840"/>
            <a:ext cx="150876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913632" y="209397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537460" y="191109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dispatch(intent, context)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023360" y="2560320"/>
            <a:ext cx="150876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422392" y="250545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046220" y="23225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hybrid_retrieve(query, case_id)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532120" y="2971800"/>
            <a:ext cx="1508759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931152" y="291693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54980" y="27340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verify_sources(chunks)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532120" y="3383280"/>
            <a:ext cx="1508759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532120" y="332841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554980" y="31455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verified_chunks + confidence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023360" y="3794760"/>
            <a:ext cx="150876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023360" y="373989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046220" y="3557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grounded_context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023360" y="4206240"/>
            <a:ext cx="4526279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439912" y="415137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554980" y="3968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generate(prompt + context)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023360" y="4617720"/>
            <a:ext cx="4526279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23360" y="456285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54980" y="4379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raw_answer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023360" y="5029200"/>
            <a:ext cx="617220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085832" y="497433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377940" y="47914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assemble(answer, grounding, ai_insight)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514600" y="5440680"/>
            <a:ext cx="768096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514600" y="538581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623560" y="5202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structured_response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1560" y="5852160"/>
            <a:ext cx="1463040" cy="3200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51560" y="5797296"/>
            <a:ext cx="128016" cy="914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1560" y="56144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5"/>
                </a:solidFill>
              </a:rPr>
              <a:t>200 OK  {answer, confidence, sources, ai_insight}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Entity-Relationship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Core data model</a:t>
            </a:r>
          </a:p>
        </p:txBody>
      </p:sp>
      <p:pic>
        <p:nvPicPr>
          <p:cNvPr id="6" name="Picture 5" descr="data_model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DESIGN &amp; TECHNOLOGICAL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Logical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Layers and responsibilities</a:t>
            </a:r>
          </a:p>
        </p:txBody>
      </p:sp>
      <p:pic>
        <p:nvPicPr>
          <p:cNvPr id="6" name="Picture 5" descr="architec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Orchestration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Multi-agent pipeline internals</a:t>
            </a:r>
          </a:p>
        </p:txBody>
      </p:sp>
      <p:pic>
        <p:nvPicPr>
          <p:cNvPr id="6" name="Picture 5" descr="ai_orchestr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Physical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Docker deployment topology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04320" cy="5623560"/>
          </a:xfrm>
          <a:prstGeom prst="rect">
            <a:avLst/>
          </a:prstGeom>
          <a:solidFill>
            <a:srgbClr val="08182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03C"/>
                </a:solidFill>
              </a:rPr>
              <a:t>Docker Host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560320" cy="109728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React Frontend
(Internal Workspace)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5A5"/>
                </a:solidFill>
              </a:rPr>
              <a:t>Port 5173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63040"/>
            <a:ext cx="2560320" cy="1097280"/>
          </a:xfrm>
          <a:prstGeom prst="rect">
            <a:avLst/>
          </a:prstGeom>
          <a:solidFill>
            <a:srgbClr val="16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087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React Client Portal
(Public Intake)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5A5"/>
                </a:solidFill>
              </a:rPr>
              <a:t>Port 5174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2743200" cy="1097280"/>
          </a:xfrm>
          <a:prstGeom prst="rect">
            <a:avLst/>
          </a:prstGeom>
          <a:solidFill>
            <a:srgbClr val="0A355A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0876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FastAPI Backend
(Uvicorn --reload)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5A5"/>
                </a:solidFill>
              </a:rPr>
              <a:t>Port 8000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463040"/>
            <a:ext cx="2651760" cy="1097280"/>
          </a:xfrm>
          <a:prstGeom prst="rect">
            <a:avLst/>
          </a:prstGeom>
          <a:solidFill>
            <a:srgbClr val="2C1A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50876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LLM Providers
(Groq / OpenAI / OpenRouter)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331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5A5"/>
                </a:solidFill>
              </a:rPr>
              <a:t>External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2377440" cy="1371600"/>
          </a:xfrm>
          <a:prstGeom prst="rect">
            <a:avLst/>
          </a:prstGeom>
          <a:solidFill>
            <a:srgbClr val="18304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PostgreSQL 15
Port 5433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749039"/>
            <a:ext cx="2377440" cy="1371600"/>
          </a:xfrm>
          <a:prstGeom prst="rect">
            <a:avLst/>
          </a:prstGeom>
          <a:solidFill>
            <a:srgbClr val="18304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3840480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Redis 7
Port 6379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749039"/>
            <a:ext cx="2377440" cy="1371600"/>
          </a:xfrm>
          <a:prstGeom prst="rect">
            <a:avLst/>
          </a:prstGeom>
          <a:solidFill>
            <a:srgbClr val="18304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840480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MinIO
Object Storage
Port 9000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749039"/>
            <a:ext cx="2377440" cy="1371600"/>
          </a:xfrm>
          <a:prstGeom prst="rect">
            <a:avLst/>
          </a:prstGeom>
          <a:solidFill>
            <a:srgbClr val="18304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3840480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FAISS
Vector Index
(In-memory)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155680" cy="822960"/>
          </a:xfrm>
          <a:prstGeom prst="rect">
            <a:avLst/>
          </a:prstGeom>
          <a:solidFill>
            <a:srgbClr val="0C2840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440680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03C"/>
                </a:solidFill>
              </a:rPr>
              <a:t>▸ Document AI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440680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03C"/>
                </a:solidFill>
              </a:rPr>
              <a:t>▸ RAG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440680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03C"/>
                </a:solidFill>
              </a:rPr>
              <a:t>▸ Legal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440680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03C"/>
                </a:solidFill>
              </a:rPr>
              <a:t>▸ Copilot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5440680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03C"/>
                </a:solidFill>
              </a:rPr>
              <a:t>▸ Voice / Whisper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5440680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03C"/>
                </a:solidFill>
              </a:rPr>
              <a:t>▸ Specialized Agents x10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76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8A95A5"/>
                </a:solidFill>
              </a:rPr>
              <a:t>AI Services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578608"/>
            <a:ext cx="36576" cy="1161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19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2578608"/>
            <a:ext cx="36576" cy="1161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2578608"/>
            <a:ext cx="36576" cy="1161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20" y="2578608"/>
            <a:ext cx="36576" cy="1161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2578608"/>
            <a:ext cx="36576" cy="1161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2578608"/>
            <a:ext cx="36576" cy="1161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Software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Technologies chosen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371600" cy="74980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143000"/>
            <a:ext cx="4572000" cy="7498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25272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18 + TypeScript + Vite + TailwindCSS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577840" cy="749808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52728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Two separate SPAs: internal workspace and public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48256"/>
            <a:ext cx="1371600" cy="749808"/>
          </a:xfrm>
          <a:prstGeom prst="rect">
            <a:avLst/>
          </a:prstGeom>
          <a:solidFill>
            <a:srgbClr val="21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128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2048256"/>
            <a:ext cx="4572000" cy="7498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15798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+ Python 3 + Pydantic + Uvicorn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48256"/>
            <a:ext cx="5577840" cy="749808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57984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Async-first, auto-documented REST API with typed contracts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53512"/>
            <a:ext cx="1371600" cy="7498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2953512"/>
            <a:ext cx="4572000" cy="7498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063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PostgreSQL 15 + SQLAlchemy 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53512"/>
            <a:ext cx="5577840" cy="749808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6324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Relational model with multi-tenant isolation per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58768"/>
            <a:ext cx="1371600" cy="7498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02335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/ 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3858768"/>
            <a:ext cx="4572000" cy="7498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396849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sentence-transformers + FAISS + Groq / OpenAI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858768"/>
            <a:ext cx="5577840" cy="749808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68496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Hybrid retrieval: dense embeddings + BM25 rerank + LLM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64024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9286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4764024"/>
            <a:ext cx="4572000" cy="7498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48737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MinIO object storage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764024"/>
            <a:ext cx="5577840" cy="749808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73752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Document binary storage (PDFs, audio) with presigned URLs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669280"/>
            <a:ext cx="137160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833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5669280"/>
            <a:ext cx="4572000" cy="7498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577900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Docker Compose + Redis 7 + GitHub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669280"/>
            <a:ext cx="5577840" cy="749808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779008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5"/>
                </a:solidFill>
              </a:rPr>
              <a:t>Containerized local dev; CI trust-release-gate workflow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9875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Technology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987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Design Rationale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Security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Defence-in-depth across all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715000" cy="24231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71500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978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733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JWT bearer tokens (stateless)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1305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BCrypt password hashing (cost factor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5877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Refresh token 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0449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OTP login for client portal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715000" cy="24231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571500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1978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6733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RBAC: Admin / Lawyer / Assistant /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1305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Multi-tenant: requests filtered by tenant_id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5877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Entity-level ownership checks on all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04495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Client portal isolated from internal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5715000" cy="24231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571500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0390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Transport &amp;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2793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HTTPS enforced in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7365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CORS allowlist per origin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1937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CORS preflight cache headers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56509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Rate limiting middleware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749039"/>
            <a:ext cx="5715000" cy="242316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749039"/>
            <a:ext cx="571500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80390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Data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2793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PII redaction before embedding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47365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MinIO presigned URLs (time-limited)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51937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No secrets in source code (.env pattern)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56509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Docker secrets for credentials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REALIZATION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Realization — AI Copilot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Sprint 5–6: Orchestration &amp;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1
User
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Lawyer types
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2536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2
Intent
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15+ intents:
ask, draft, summarize
timeline, risks...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3
Context
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Case history,
active docs,
prior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4
RAG
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FAISS dense +
BM25 rerank
hybrid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024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5
LLM
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Groq / OpenAI
with grounded
prompt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6
Verifier
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Citation check
Fallback reason
Confidence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15016" y="1188720"/>
            <a:ext cx="1481328" cy="16916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8" y="1234440"/>
            <a:ext cx="1335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7
Assembly
&amp;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8168" y="2084831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Structured answer
AI Insight panel
Lawyer note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108960"/>
            <a:ext cx="11548872" cy="3566160"/>
          </a:xfrm>
          <a:prstGeom prst="rect">
            <a:avLst/>
          </a:prstGeom>
          <a:solidFill>
            <a:srgbClr val="0C223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127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Specialized Agent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56616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730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PromptOptimizerAgent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356616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3730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RetrievalAgent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56616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79" y="3730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CaseReasoningAgent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56616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37307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TimelineAgent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52628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690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DraftingAgent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452628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4690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DocumentComparisonAgent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52628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79" y="4690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StrictVerifierAgent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452628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4690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ClaimValidationAgent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48640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650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ContradictionDetectionAgent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548640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0" y="5650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MatterClassificationAgent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548640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5650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ArticleApplicabilityAgent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0" y="5486400"/>
            <a:ext cx="2633472" cy="804672"/>
          </a:xfrm>
          <a:prstGeom prst="rect">
            <a:avLst/>
          </a:prstGeom>
          <a:solidFill>
            <a:srgbClr val="162A44"/>
          </a:solidFill>
          <a:ln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5440" y="5650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WorkflowOrchestrator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Realization — Document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Sprint 3–4: From raw file to searchable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📤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PDF / DOCX / Image
MinIO storage
Metadata in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2536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🔍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Tesseract / PyPDF
Scanned image support
Text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9202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🏷️ 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Named entity
recognition
Person, Org,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202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🔒 PII
Redact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Remove sensitive
personal data
before embedding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9202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024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✂️ Chunk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Sliding window
chunking
Overlap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19202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🧮 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sentence-transformers
all-MiniLM-L6-v2
384-dim vectors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02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15016" y="1188720"/>
            <a:ext cx="1481328" cy="18288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8" y="1243584"/>
            <a:ext cx="13350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03C"/>
                </a:solidFill>
              </a:rPr>
              <a:t>📦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8168" y="1920240"/>
            <a:ext cx="13350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FAISS CPU index
Persisted to disk
Metadata 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246120"/>
            <a:ext cx="11548872" cy="3383280"/>
          </a:xfrm>
          <a:prstGeom prst="rect">
            <a:avLst/>
          </a:prstGeom>
          <a:solidFill>
            <a:srgbClr val="0C2238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273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Hybrid Retrieval at Query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749039"/>
            <a:ext cx="1783080" cy="2651760"/>
          </a:xfrm>
          <a:prstGeom prst="rect">
            <a:avLst/>
          </a:prstGeom>
          <a:solidFill>
            <a:srgbClr val="162A44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813048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Query
Embedding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4434840"/>
            <a:ext cx="16642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Encode user query
with same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13432" y="4937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3749039"/>
            <a:ext cx="1783080" cy="2651760"/>
          </a:xfrm>
          <a:prstGeom prst="rect">
            <a:avLst/>
          </a:prstGeom>
          <a:solidFill>
            <a:srgbClr val="162A44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96312" y="3813048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FAISS
Dense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96312" y="4434840"/>
            <a:ext cx="16642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Top-K by
cosine similarity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4937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749039"/>
            <a:ext cx="1783080" cy="2651760"/>
          </a:xfrm>
          <a:prstGeom prst="rect">
            <a:avLst/>
          </a:prstGeom>
          <a:solidFill>
            <a:srgbClr val="162A44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6552" y="3813048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BM25
Keyword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2" y="4434840"/>
            <a:ext cx="16642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Exact term match
over corpus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4937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749039"/>
            <a:ext cx="1783080" cy="2651760"/>
          </a:xfrm>
          <a:prstGeom prst="rect">
            <a:avLst/>
          </a:prstGeom>
          <a:solidFill>
            <a:srgbClr val="162A44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3813048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Cross-Encoder
Rerank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434840"/>
            <a:ext cx="16642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Score all candidates
together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4937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80" y="3749039"/>
            <a:ext cx="1783080" cy="2651760"/>
          </a:xfrm>
          <a:prstGeom prst="rect">
            <a:avLst/>
          </a:prstGeom>
          <a:solidFill>
            <a:srgbClr val="162A44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2" y="3813048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Top-N
Chunks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7032" y="4434840"/>
            <a:ext cx="16642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Best N chunks
pass to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94392" y="4937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04120" y="3749039"/>
            <a:ext cx="1783080" cy="2651760"/>
          </a:xfrm>
          <a:prstGeom prst="rect">
            <a:avLst/>
          </a:prstGeom>
          <a:solidFill>
            <a:srgbClr val="162A44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77272" y="3813048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3C"/>
                </a:solidFill>
              </a:rPr>
              <a:t>Source
Citations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77272" y="4434840"/>
            <a:ext cx="16642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Article + page
metadata attached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Realization — AI Insight &amp; 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Grounding classification + confidence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Every AI answer is accompanied by a structured AI Insight block: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03520" cy="5029200"/>
          </a:xfrm>
          <a:prstGeom prst="rect">
            <a:avLst/>
          </a:prstGeom>
          <a:solidFill>
            <a:srgbClr val="1028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7276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AI Insight  —  Example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5A5"/>
                </a:solidFill>
              </a:rPr>
              <a:t>grounding_type: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116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Case-grounded (document-based)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61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5A5"/>
                </a:solidFill>
              </a:rPr>
              <a:t>confidence_level: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614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511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5A5"/>
                </a:solidFill>
              </a:rPr>
              <a:t>sources_count: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51129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 document chunks matched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2611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5A5"/>
                </a:solidFill>
              </a:rPr>
              <a:t>legal_grounding: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26110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None — no verified legal provisions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010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5A5"/>
                </a:solidFill>
              </a:rPr>
              <a:t>grounding_desc: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01091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Strongly grounded in case documents,
not supported by legal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5A5"/>
                </a:solidFill>
              </a:rPr>
              <a:t>lawyer_note: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7607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Case record supports this response.
Counsel review advised before external 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508760"/>
            <a:ext cx="5989320" cy="502920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5727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Grounding Classification Matrix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029968"/>
            <a:ext cx="5852160" cy="5943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Grounding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688336"/>
            <a:ext cx="5852160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27614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3+ doc sources, no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614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Case-grounded (document-based)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346704"/>
            <a:ext cx="5852160" cy="5943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34198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1–2 doc 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4198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Case-grounded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34198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5"/>
                </a:solidFill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4005072"/>
            <a:ext cx="5852160" cy="5943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0782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Case context, no legal codes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Case-context reasoning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407822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74C3C"/>
                </a:solidFill>
              </a:rPr>
              <a:t>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663440"/>
            <a:ext cx="5852160" cy="5943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4736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External search 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736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Fallback (context-based)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47365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5"/>
                </a:solidFill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5321808"/>
            <a:ext cx="5852160" cy="5943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53328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 sources found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394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Not grounded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5394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74C3C"/>
                </a:solidFill>
              </a:rPr>
              <a:t>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5980176"/>
            <a:ext cx="5852160" cy="5943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8" y="60533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General chat (no case)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6053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1320" y="60533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5"/>
                </a:solidFill>
              </a:rPr>
              <a:t>varies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Realization — Frontend Workspaces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Internal workspace + public client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544068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Internal Legal Workspace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664208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Cases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Case list, filters, status badges, quick 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322576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Documents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957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Upload, preview, processing status,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980944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5409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Copilot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5409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Intent-aware chat, AI Insight panel, 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639312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1246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Calendar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7124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Deadline view, sync, event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297680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7083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Evidence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3708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Side-by-side doc comparison, annotations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956048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29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Admin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029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User management, tenant config, audit logs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614416"/>
            <a:ext cx="5349240" cy="56692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875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3C"/>
                </a:solidFill>
              </a:rPr>
              <a:t>Voice Intake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687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Record/upload audio, transcript view, link to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097280"/>
            <a:ext cx="5852160" cy="544068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3C"/>
                </a:solidFill>
              </a:rPr>
              <a:t>Client Portal (Public)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1664208"/>
            <a:ext cx="5623560" cy="694944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755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Intake 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7556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Name, contact, matter type, free-text description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0488" y="2450592"/>
            <a:ext cx="5623560" cy="694944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5420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Case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5420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Track status: pending → in-progress → closed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3236976"/>
            <a:ext cx="5623560" cy="694944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32841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Document Upload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3284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Attach supporting documents to intake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4023360"/>
            <a:ext cx="5623560" cy="694944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114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Portal Login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4114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OTP-based login, isolated from staff auth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0488" y="4809744"/>
            <a:ext cx="5623560" cy="694944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901183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03C"/>
                </a:solidFill>
              </a:rPr>
              <a:t>Status History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901183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Timeline of case updates and lawyer actions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Realization — Tests &amp; 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Automated validation across all trust-critical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40312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Automated Eval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1640312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agent eval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43 /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100.0%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5A5"/>
                </a:solidFill>
              </a:rPr>
              <a:t>advancement/evals/agent_eval_report_20260330.json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12848"/>
            <a:ext cx="11640312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042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Summary eval subset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042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 6 / 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0428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304288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5A5"/>
                </a:solidFill>
              </a:rPr>
              <a:t>advancement/evals/agent_eval_report_summary.json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71215"/>
            <a:ext cx="11640312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9626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E2E copilot smoke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96265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 4 /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6265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100.0%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962656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5A5"/>
                </a:solidFill>
              </a:rPr>
              <a:t>scripts/test_copilot_e2e.py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29584"/>
            <a:ext cx="11640312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6210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Backend unit tests (pytest)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62102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All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2102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621024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5A5"/>
                </a:solidFill>
              </a:rPr>
              <a:t>tests/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87952"/>
            <a:ext cx="11640312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279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Frontend 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279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0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793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279392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5A5"/>
                </a:solidFill>
              </a:rPr>
              <a:t>npm run build --prefix 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846320"/>
            <a:ext cx="11640312" cy="594360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49377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Client portal 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93775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0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3775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937759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5A5"/>
                </a:solidFill>
              </a:rPr>
              <a:t>npm run build --prefix client-portal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96128"/>
            <a:ext cx="11640312" cy="100584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6418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Definition of Done — Release Gate Thresholds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035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Citation fidelity target: ≥ 95%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9272" y="6035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Unsupported claim rate: ≤ 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7064" y="6035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Weak-intent alert rate: &lt; 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6035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Tier 3 Legal AI Done: grounding metadata on all outputs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5A5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What was built and what was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Delivered a production-architecture legal AI platform covering the full lawyer workflow: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64208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Backend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1828800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FastAPI, multi-tenant RBAC, 15 API routers, full case/client/document 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64208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64208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9385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Document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28800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OCR → NER → PII redaction → chunking → FAISS indexing → hybrid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108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AI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299923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15+ intents, 12 specialized agents, grounded answers, citation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834640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34640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108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Legal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99923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Tunisia + Germany legal codes corpus, article-level retrieval, fallback taxonomy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05072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05072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42793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Voice Intake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4169663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Audio → transcription → consultation extraction → case linkage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05072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05072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2793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Client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4169663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Public intake, OTP auth, case status, document upload — fully isolated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175504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175504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54498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Trust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1" y="5340096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AI Insight: grounding type, confidence, legal_grounding, lawyer note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175504"/>
            <a:ext cx="571500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175504"/>
            <a:ext cx="1691640" cy="105156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54498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Quality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5340096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43/43 evals, 4/4 E2E, pytest suite, GitHub Actions release gate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Perspectives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03C"/>
                </a:solidFill>
              </a:rPr>
              <a:t>Next steps toward production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53035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77840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Short-Term  (next 3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Fine-tune embedding model on Tunisian legal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Article-level claim sentence mapping in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Parser confidence scoring + disambiguation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79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Alembic database migrations (replace schema_sync.py)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LLM provider abstraction + exponential backoff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5806440" cy="5303520"/>
          </a:xfrm>
          <a:prstGeom prst="rect">
            <a:avLst/>
          </a:prstGeom>
          <a:solidFill>
            <a:srgbClr val="162A44"/>
          </a:solidFill>
          <a:ln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806440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1430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Long-Term  (6–18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69164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Multi-jurisdiction expansion: France, Morocco, EU directives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56032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Custom fine-tuned legal LLM (instruction-tuned on case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42900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Real-time collaboration: multi-lawyer on same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297679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Mobile app for lawyer field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16636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SaaS multi-firm deployment with billing and SSO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45752" cy="35661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9A03C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090672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95A5"/>
                </a:solidFill>
              </a:rPr>
              <a:t>Legal AI Platform  ·  PFE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03C"/>
                </a:solidFill>
              </a:rPr>
              <a:t>github.com/ahmedbm068/legal-ai-platform-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